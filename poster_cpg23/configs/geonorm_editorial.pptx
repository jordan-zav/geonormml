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4F1EA"/>
          </a:solidFill>
          <a:ln>
            <a:solidFill>
              <a:srgbClr val="F4F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3048000"/>
          </a:xfrm>
          <a:prstGeom prst="rect">
            <a:avLst/>
          </a:prstGeom>
          <a:solidFill>
            <a:srgbClr val="092D45"/>
          </a:solidFill>
          <a:ln>
            <a:solidFill>
              <a:srgbClr val="09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46400"/>
            <a:ext cx="6858000" cy="101600"/>
          </a:xfrm>
          <a:prstGeom prst="rect">
            <a:avLst/>
          </a:prstGeom>
          <a:solidFill>
            <a:srgbClr val="F2B950"/>
          </a:solidFill>
          <a:ln>
            <a:solidFill>
              <a:srgbClr val="F2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1000" y="304800"/>
            <a:ext cx="4127500" cy="15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B9BF"/>
                </a:solidFill>
                <a:latin typeface="Arial"/>
              </a:rPr>
              <a:t>XXIII CONGRESO PERUANO DE GEOLOGÍA · PÓSTER CIENTÍFICO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03250"/>
            <a:ext cx="3873499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GeoNormPy + GeoNormML</a:t>
            </a:r>
            <a:br/>
            <a:r>
              <a:rPr sz="2100" b="1">
                <a:solidFill>
                  <a:srgbClr val="FFFFFF"/>
                </a:solidFill>
                <a:latin typeface="Arial"/>
              </a:rPr>
              <a:t>CIPW reproducible para rocas ígneas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1790700"/>
            <a:ext cx="3810000" cy="15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Jordan Zavaleta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200025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D6E5EA"/>
                </a:solidFill>
                <a:latin typeface="Arial"/>
              </a:rPr>
              <a:t>Escuela Profesional de Ingeniería Geológica · Universidad Nacional de Ingeniería · Lima, Perú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7250" y="349250"/>
            <a:ext cx="857250" cy="330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9800" y="393700"/>
            <a:ext cx="698500" cy="2349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92D45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92D45"/>
                </a:solidFill>
                <a:latin typeface="Arial"/>
              </a:rPr>
              <a:t>UNI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19750" y="349250"/>
            <a:ext cx="857250" cy="330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83250" y="393700"/>
            <a:ext cx="730250" cy="2349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92D45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92D45"/>
                </a:solidFill>
                <a:latin typeface="Arial"/>
              </a:rPr>
              <a:t>SGP/CPG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984250"/>
            <a:ext cx="1905000" cy="1555750"/>
          </a:xfrm>
          <a:prstGeom prst="roundRect">
            <a:avLst/>
          </a:prstGeom>
          <a:solidFill>
            <a:srgbClr val="126C8F"/>
          </a:solidFill>
          <a:ln>
            <a:solidFill>
              <a:srgbClr val="126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ataset filtr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366" y="1079500"/>
            <a:ext cx="944267" cy="136525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81000" y="2425700"/>
            <a:ext cx="857250" cy="558800"/>
          </a:xfrm>
          <a:prstGeom prst="roundRect">
            <a:avLst/>
          </a:prstGeom>
          <a:solidFill>
            <a:srgbClr val="092D45"/>
          </a:solidFill>
          <a:ln>
            <a:solidFill>
              <a:srgbClr val="09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800" y="2508250"/>
            <a:ext cx="75565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2 755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" y="2755900"/>
            <a:ext cx="7556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muestras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65250" y="2425700"/>
            <a:ext cx="857250" cy="558800"/>
          </a:xfrm>
          <a:prstGeom prst="roundRect">
            <a:avLst/>
          </a:prstGeom>
          <a:solidFill>
            <a:srgbClr val="092D45"/>
          </a:solidFill>
          <a:ln>
            <a:solidFill>
              <a:srgbClr val="09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6050" y="2508250"/>
            <a:ext cx="75565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6050" y="2755900"/>
            <a:ext cx="7556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clases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49500" y="2425700"/>
            <a:ext cx="857250" cy="558800"/>
          </a:xfrm>
          <a:prstGeom prst="roundRect">
            <a:avLst/>
          </a:prstGeom>
          <a:solidFill>
            <a:srgbClr val="092D45"/>
          </a:solidFill>
          <a:ln>
            <a:solidFill>
              <a:srgbClr val="09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00300" y="2508250"/>
            <a:ext cx="75565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PyPI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0300" y="2755900"/>
            <a:ext cx="7556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desplegado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000" y="3333750"/>
            <a:ext cx="19050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B9BF"/>
                </a:solidFill>
                <a:latin typeface="Arial"/>
              </a:rPr>
              <a:t>RETO Y PROPUESTA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0" y="3543300"/>
            <a:ext cx="2540000" cy="111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8232B"/>
                </a:solidFill>
                <a:latin typeface="Arial"/>
              </a:rPr>
              <a:t>GeoNormPy calcula CIPW. GeoNormML selecciona modelos por dominio litológico. Juntos convierten óxidos, minerales normativos y ML en un flujo abierto, trazable y auditable.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8500" y="3333750"/>
            <a:ext cx="26670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B9BF"/>
                </a:solidFill>
                <a:latin typeface="Arial"/>
              </a:rPr>
              <a:t>MÉTODO REPRODUCIBLE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38500" y="3619500"/>
            <a:ext cx="711200" cy="800100"/>
          </a:xfrm>
          <a:prstGeom prst="roundRect">
            <a:avLst/>
          </a:prstGeom>
          <a:solidFill>
            <a:srgbClr val="FFFFFF"/>
          </a:solidFill>
          <a:ln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0100" y="3733799"/>
            <a:ext cx="508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6C8F"/>
                </a:solidFill>
                <a:latin typeface="Arial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21050" y="3937000"/>
            <a:ext cx="5461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92D45"/>
                </a:solidFill>
                <a:latin typeface="Arial"/>
              </a:rPr>
              <a:t>Curación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43350" y="3911600"/>
            <a:ext cx="1397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2B950"/>
                </a:solidFill>
                <a:latin typeface="Arial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76699" y="3619500"/>
            <a:ext cx="711200" cy="800100"/>
          </a:xfrm>
          <a:prstGeom prst="roundRect">
            <a:avLst/>
          </a:prstGeom>
          <a:solidFill>
            <a:srgbClr val="FFFFFF"/>
          </a:solidFill>
          <a:ln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78300" y="3733799"/>
            <a:ext cx="508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6C8F"/>
                </a:solidFill>
                <a:latin typeface="Arial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59249" y="3937000"/>
            <a:ext cx="5461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92D45"/>
                </a:solidFill>
                <a:latin typeface="Arial"/>
              </a:rPr>
              <a:t>CIPW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1550" y="3911600"/>
            <a:ext cx="1397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2B950"/>
                </a:solidFill>
                <a:latin typeface="Arial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14900" y="3619500"/>
            <a:ext cx="711200" cy="800100"/>
          </a:xfrm>
          <a:prstGeom prst="roundRect">
            <a:avLst/>
          </a:prstGeom>
          <a:solidFill>
            <a:srgbClr val="FFFFFF"/>
          </a:solidFill>
          <a:ln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16500" y="3733799"/>
            <a:ext cx="508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6C8F"/>
                </a:solidFill>
                <a:latin typeface="Arial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97450" y="3937000"/>
            <a:ext cx="5461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92D45"/>
                </a:solidFill>
                <a:latin typeface="Arial"/>
              </a:rPr>
              <a:t>Benchmark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19750" y="3911600"/>
            <a:ext cx="1397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2B950"/>
                </a:solidFill>
                <a:latin typeface="Arial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53100" y="3619500"/>
            <a:ext cx="711200" cy="800100"/>
          </a:xfrm>
          <a:prstGeom prst="roundRect">
            <a:avLst/>
          </a:prstGeom>
          <a:solidFill>
            <a:srgbClr val="FFFFFF"/>
          </a:solidFill>
          <a:ln>
            <a:solidFill>
              <a:srgbClr val="D5D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54700" y="3733799"/>
            <a:ext cx="508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6C8F"/>
                </a:solidFill>
                <a:latin typeface="Arial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5650" y="3937000"/>
            <a:ext cx="5461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92D45"/>
                </a:solidFill>
                <a:latin typeface="Arial"/>
              </a:rPr>
              <a:t>Modelo final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38500" y="4572000"/>
            <a:ext cx="317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2"/>
                </a:solidFill>
                <a:latin typeface="Arial"/>
              </a:rPr>
              <a:t>QA/QC separado · CV estratificada 5-fold · Random Forest · XGBoost · SVM + PCA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5238750"/>
            <a:ext cx="6858000" cy="4222750"/>
          </a:xfrm>
          <a:prstGeom prst="rect">
            <a:avLst/>
          </a:prstGeom>
          <a:solidFill>
            <a:srgbClr val="E7EEF0"/>
          </a:solidFill>
          <a:ln>
            <a:solidFill>
              <a:srgbClr val="E7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1000" y="5461000"/>
            <a:ext cx="47625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B9BF"/>
                </a:solidFill>
                <a:latin typeface="Arial"/>
              </a:rPr>
              <a:t>RESULTADOS: EVIDENCIA QUE SOSTIENE LA PROPUESTA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1000" y="5683250"/>
            <a:ext cx="60960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8232B"/>
                </a:solidFill>
                <a:latin typeface="Arial"/>
              </a:rPr>
              <a:t>La selección no privilegia una métrica aislada: combina desempeño, estabilidad, disponibilidad de variables y coherencia petrológica.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1000" y="6159500"/>
            <a:ext cx="2921000" cy="27305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81000" y="6159500"/>
            <a:ext cx="2921000" cy="279400"/>
          </a:xfrm>
          <a:prstGeom prst="roundRect">
            <a:avLst/>
          </a:prstGeom>
          <a:solidFill>
            <a:srgbClr val="126C8F"/>
          </a:solidFill>
          <a:ln>
            <a:solidFill>
              <a:srgbClr val="126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299" y="6235700"/>
            <a:ext cx="25400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VOLCÁNICAS · XGBOOST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20700" y="6559550"/>
            <a:ext cx="857250" cy="558800"/>
          </a:xfrm>
          <a:prstGeom prst="roundRect">
            <a:avLst/>
          </a:prstGeom>
          <a:solidFill>
            <a:srgbClr val="092D45"/>
          </a:solidFill>
          <a:ln>
            <a:solidFill>
              <a:srgbClr val="09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1500" y="6642100"/>
            <a:ext cx="75565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0.805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1500" y="6889750"/>
            <a:ext cx="7556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CA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73200" y="6559550"/>
            <a:ext cx="857250" cy="558800"/>
          </a:xfrm>
          <a:prstGeom prst="roundRect">
            <a:avLst/>
          </a:prstGeom>
          <a:solidFill>
            <a:srgbClr val="092D45"/>
          </a:solidFill>
          <a:ln>
            <a:solidFill>
              <a:srgbClr val="09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24000" y="6642100"/>
            <a:ext cx="75565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0.947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24000" y="6889750"/>
            <a:ext cx="7556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AUC macro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25700" y="6559550"/>
            <a:ext cx="857250" cy="558800"/>
          </a:xfrm>
          <a:prstGeom prst="roundRect">
            <a:avLst/>
          </a:prstGeom>
          <a:solidFill>
            <a:srgbClr val="092D45"/>
          </a:solidFill>
          <a:ln>
            <a:solidFill>
              <a:srgbClr val="09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76500" y="6642100"/>
            <a:ext cx="75565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0.713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76500" y="6889750"/>
            <a:ext cx="7556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MCC</a:t>
            </a:r>
          </a:p>
        </p:txBody>
      </p:sp>
      <p:pic>
        <p:nvPicPr>
          <p:cNvPr id="58" name="Picture 57" descr="heatmap_VOL_X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62" y="7239000"/>
            <a:ext cx="1346825" cy="11430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2095499" y="7366000"/>
            <a:ext cx="952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232B"/>
                </a:solidFill>
                <a:latin typeface="Arial"/>
              </a:rPr>
              <a:t>Mayor separabilidad química.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0700" y="8445500"/>
            <a:ext cx="2635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2"/>
                </a:solidFill>
                <a:latin typeface="Arial"/>
              </a:rPr>
              <a:t>Matriz de confusión · 1 764 muestras · 9 clases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92500" y="6159500"/>
            <a:ext cx="2921000" cy="27305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492500" y="6159500"/>
            <a:ext cx="2921000" cy="279400"/>
          </a:xfrm>
          <a:prstGeom prst="roundRect">
            <a:avLst/>
          </a:prstGeom>
          <a:solidFill>
            <a:srgbClr val="126C8F"/>
          </a:solidFill>
          <a:ln>
            <a:solidFill>
              <a:srgbClr val="126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06800" y="6235700"/>
            <a:ext cx="25400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PLUTÓNICAS · RANDOM FOREST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32200" y="6559550"/>
            <a:ext cx="857250" cy="558800"/>
          </a:xfrm>
          <a:prstGeom prst="roundRect">
            <a:avLst/>
          </a:prstGeom>
          <a:solidFill>
            <a:srgbClr val="092D45"/>
          </a:solidFill>
          <a:ln>
            <a:solidFill>
              <a:srgbClr val="09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83000" y="6642100"/>
            <a:ext cx="75565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0.581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83000" y="6889750"/>
            <a:ext cx="7556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CA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84700" y="6559550"/>
            <a:ext cx="857250" cy="558800"/>
          </a:xfrm>
          <a:prstGeom prst="roundRect">
            <a:avLst/>
          </a:prstGeom>
          <a:solidFill>
            <a:srgbClr val="092D45"/>
          </a:solidFill>
          <a:ln>
            <a:solidFill>
              <a:srgbClr val="09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35500" y="6642100"/>
            <a:ext cx="75565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0.852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35500" y="6889750"/>
            <a:ext cx="7556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AUC macro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537200" y="6559550"/>
            <a:ext cx="857250" cy="558800"/>
          </a:xfrm>
          <a:prstGeom prst="roundRect">
            <a:avLst/>
          </a:prstGeom>
          <a:solidFill>
            <a:srgbClr val="092D45"/>
          </a:solidFill>
          <a:ln>
            <a:solidFill>
              <a:srgbClr val="09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88000" y="6642100"/>
            <a:ext cx="75565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0.482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88000" y="6889750"/>
            <a:ext cx="7556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MCC</a:t>
            </a:r>
          </a:p>
        </p:txBody>
      </p:sp>
      <p:pic>
        <p:nvPicPr>
          <p:cNvPr id="73" name="Picture 72" descr="heatmap_PLU_R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909" y="7239000"/>
            <a:ext cx="1327330" cy="11430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207000" y="7366000"/>
            <a:ext cx="952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232B"/>
                </a:solidFill>
                <a:latin typeface="Arial"/>
              </a:rPr>
              <a:t>El QAPF modal sigue siendo crítico.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32200" y="8445500"/>
            <a:ext cx="2635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2"/>
                </a:solidFill>
                <a:latin typeface="Arial"/>
              </a:rPr>
              <a:t>Matriz de confusión · 991 muestras · 10 clases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1000" y="9779000"/>
            <a:ext cx="29210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B9BF"/>
                </a:solidFill>
                <a:latin typeface="Arial"/>
              </a:rPr>
              <a:t>APLICABILIDAD Y CONCLUSIONES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1000" y="10033000"/>
            <a:ext cx="2762250" cy="34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92D45"/>
                </a:solidFill>
                <a:latin typeface="Arial"/>
              </a:rPr>
              <a:t>Aprobado y disponible en PyPI</a:t>
            </a:r>
            <a:br/>
            <a:r>
              <a:rPr sz="1400" b="1">
                <a:solidFill>
                  <a:srgbClr val="092D45"/>
                </a:solidFill>
                <a:latin typeface="Arial"/>
              </a:rPr>
              <a:t>pip install geonormpy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81000" y="10585450"/>
            <a:ext cx="63500" cy="63500"/>
          </a:xfrm>
          <a:prstGeom prst="roundRect">
            <a:avLst/>
          </a:prstGeom>
          <a:solidFill>
            <a:srgbClr val="F2B950"/>
          </a:solidFill>
          <a:ln>
            <a:solidFill>
              <a:srgbClr val="F2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6100" y="10541000"/>
            <a:ext cx="2628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8232B"/>
                </a:solidFill>
                <a:latin typeface="Arial"/>
              </a:rPr>
              <a:t>CIPW, QA y ML reproducibles.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81000" y="10871200"/>
            <a:ext cx="63500" cy="63500"/>
          </a:xfrm>
          <a:prstGeom prst="roundRect">
            <a:avLst/>
          </a:prstGeom>
          <a:solidFill>
            <a:srgbClr val="F2B950"/>
          </a:solidFill>
          <a:ln>
            <a:solidFill>
              <a:srgbClr val="F2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6100" y="10826750"/>
            <a:ext cx="2628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8232B"/>
                </a:solidFill>
                <a:latin typeface="Arial"/>
              </a:rPr>
              <a:t>Apoya el criterio geológico.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81000" y="11156950"/>
            <a:ext cx="63500" cy="63500"/>
          </a:xfrm>
          <a:prstGeom prst="roundRect">
            <a:avLst/>
          </a:prstGeom>
          <a:solidFill>
            <a:srgbClr val="F2B950"/>
          </a:solidFill>
          <a:ln>
            <a:solidFill>
              <a:srgbClr val="F2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6100" y="11112500"/>
            <a:ext cx="2628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8232B"/>
                </a:solidFill>
                <a:latin typeface="Arial"/>
              </a:rPr>
              <a:t>Trazabilidad transferible.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492500" y="9779000"/>
            <a:ext cx="2984500" cy="1905000"/>
          </a:xfrm>
          <a:prstGeom prst="roundRect">
            <a:avLst/>
          </a:prstGeom>
          <a:solidFill>
            <a:srgbClr val="092D45"/>
          </a:solidFill>
          <a:ln>
            <a:solidFill>
              <a:srgbClr val="09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95700" y="9969500"/>
            <a:ext cx="2540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De composición a interpretación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95700" y="10445750"/>
            <a:ext cx="2476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D6E5EA"/>
                </a:solidFill>
                <a:latin typeface="Arial"/>
              </a:rPr>
              <a:t>CIPW con hierro, saturación, alúmina y balance de masa. Modelos defendibles para cada dominio.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95700" y="11303000"/>
            <a:ext cx="2476500" cy="15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B9BF"/>
                </a:solidFill>
                <a:latin typeface="Arial"/>
              </a:rPr>
              <a:t>Código abierto · github.com/jordan-zav/GeoNormPy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81000" y="11893550"/>
            <a:ext cx="6096000" cy="12700"/>
          </a:xfrm>
          <a:prstGeom prst="rect">
            <a:avLst/>
          </a:prstGeom>
          <a:solidFill>
            <a:srgbClr val="35B9BF"/>
          </a:solidFill>
          <a:ln>
            <a:solidFill>
              <a:srgbClr val="35B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81000" y="11995150"/>
            <a:ext cx="6096000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2"/>
                </a:solidFill>
                <a:latin typeface="Arial"/>
              </a:rPr>
              <a:t>GeoNormPy + GeoNormML · Ecosistema reproducible para la clasificación de rocas ígneas del Perú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